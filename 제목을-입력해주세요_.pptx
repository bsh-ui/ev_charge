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fe24 Shiningstar"/>
      <p:regular r:id="rId18"/>
    </p:embeddedFont>
    <p:embeddedFont>
      <p:font typeface="Jalnan 2"/>
      <p:regular r:id="rId19"/>
    </p:embeddedFont>
    <p:embeddedFont>
      <p:font typeface="Pretendard Regular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8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0" y="182511700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2700"/>
            <a:ext cx="18288000" cy="1027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" y="482600"/>
            <a:ext cx="17348200" cy="933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920000">
            <a:off x="1295400" y="1041400"/>
            <a:ext cx="1498600" cy="1231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2280000">
            <a:off x="1054100" y="393700"/>
            <a:ext cx="3035300" cy="23241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4620000">
            <a:off x="15887700" y="927100"/>
            <a:ext cx="1638300" cy="138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120000">
            <a:off x="14871700" y="990600"/>
            <a:ext cx="1016000" cy="1066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362200" y="939800"/>
            <a:ext cx="3225800" cy="1346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en-US" sz="7500" b="false" i="false" u="none" strike="noStrike" spc="-500">
                <a:solidFill>
                  <a:srgbClr val="5371F3"/>
                </a:solidFill>
                <a:latin typeface="Cafe24 Shiningstar"/>
              </a:rPr>
              <a:t>Event 20XX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2641600"/>
            <a:ext cx="15925800" cy="4114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2500" b="false" i="false" u="none" strike="noStrike">
                <a:solidFill>
                  <a:srgbClr val="5371F3"/>
                </a:solidFill>
                <a:ea typeface="Jalnan 2"/>
              </a:rPr>
              <a:t>전국</a:t>
            </a:r>
            <a:r>
              <a:rPr lang="en-US" sz="12500" b="false" i="false" u="none" strike="noStrike">
                <a:solidFill>
                  <a:srgbClr val="5371F3"/>
                </a:solidFill>
                <a:latin typeface="Jalnan 2"/>
              </a:rPr>
              <a:t> </a:t>
            </a:r>
            <a:r>
              <a:rPr lang="ko-KR" sz="12500" b="false" i="false" u="none" strike="noStrike">
                <a:solidFill>
                  <a:srgbClr val="5371F3"/>
                </a:solidFill>
                <a:ea typeface="Jalnan 2"/>
              </a:rPr>
              <a:t>전기차</a:t>
            </a:r>
            <a:r>
              <a:rPr lang="en-US" sz="12500" b="false" i="false" u="none" strike="noStrike">
                <a:solidFill>
                  <a:srgbClr val="5371F3"/>
                </a:solidFill>
                <a:latin typeface="Jalnan 2"/>
              </a:rPr>
              <a:t> </a:t>
            </a:r>
            <a:r>
              <a:rPr lang="ko-KR" sz="12500" b="false" i="false" u="none" strike="noStrike">
                <a:solidFill>
                  <a:srgbClr val="5371F3"/>
                </a:solidFill>
                <a:ea typeface="Jalnan 2"/>
              </a:rPr>
              <a:t>충전소</a:t>
            </a:r>
            <a:r>
              <a:rPr lang="en-US" sz="12500" b="false" i="false" u="none" strike="noStrike">
                <a:solidFill>
                  <a:srgbClr val="5371F3"/>
                </a:solidFill>
                <a:latin typeface="Jalnan 2"/>
              </a:rPr>
              <a:t> </a:t>
            </a:r>
            <a:r>
              <a:rPr lang="ko-KR" sz="12500" b="false" i="false" u="none" strike="noStrike">
                <a:solidFill>
                  <a:srgbClr val="5371F3"/>
                </a:solidFill>
                <a:ea typeface="Jalnan 2"/>
              </a:rPr>
              <a:t>정보</a:t>
            </a:r>
            <a:r>
              <a:rPr lang="en-US" sz="12500" b="false" i="false" u="none" strike="noStrike">
                <a:solidFill>
                  <a:srgbClr val="5371F3"/>
                </a:solidFill>
                <a:latin typeface="Jalnan 2"/>
              </a:rPr>
              <a:t> </a:t>
            </a:r>
            <a:r>
              <a:rPr lang="ko-KR" sz="12500" b="false" i="false" u="none" strike="noStrike">
                <a:solidFill>
                  <a:srgbClr val="5371F3"/>
                </a:solidFill>
                <a:ea typeface="Jalnan 2"/>
              </a:rPr>
              <a:t>워크플로우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200" y="7327900"/>
            <a:ext cx="15074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전기차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충전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인프라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구축을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위한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데이터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수집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,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분석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및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시각화</a:t>
            </a:r>
            <a:r>
              <a:rPr lang="en-US" sz="3400" b="false" i="false" u="none" strike="noStrike">
                <a:solidFill>
                  <a:srgbClr val="6D8EC1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6D8EC1"/>
                </a:solidFill>
                <a:ea typeface="Jalnan 2"/>
              </a:rPr>
              <a:t>프로세스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0" y="182511700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2700"/>
            <a:ext cx="18288000" cy="1027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" y="482600"/>
            <a:ext cx="17348200" cy="9334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70000" y="3365500"/>
            <a:ext cx="47752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1.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전기차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0000" y="4191000"/>
            <a:ext cx="47625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충전소의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정의와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중요성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국내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전기차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보급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현황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인프라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확장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필요성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4500" y="3365500"/>
            <a:ext cx="47752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2.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현황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수집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94500" y="4191000"/>
            <a:ext cx="47625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소스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식별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수집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방법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선정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구조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파악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19000" y="3365500"/>
            <a:ext cx="47752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3.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전처리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및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정제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19000" y="4191000"/>
            <a:ext cx="47625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중복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제거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누락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정보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처리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형식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통일화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0000" y="6883400"/>
            <a:ext cx="47752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4.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정보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0000" y="7708900"/>
            <a:ext cx="47625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지역별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분포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분석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충전기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유형별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현황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사용량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및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패턴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분석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4500" y="6883400"/>
            <a:ext cx="47752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5.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시각화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및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대시보드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구현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94500" y="7708900"/>
            <a:ext cx="47625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시각화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도구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선정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지도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시각화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통계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대시보드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생성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19000" y="6883400"/>
            <a:ext cx="47752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6.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유지보수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및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개선</a:t>
            </a:r>
            <a:r>
              <a:rPr lang="en-US" sz="3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516FF3"/>
                </a:solidFill>
                <a:ea typeface="Jalnan 2"/>
              </a:rPr>
              <a:t>방안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19000" y="7708900"/>
            <a:ext cx="47625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갱신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프로세스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오류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보고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시스템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사용자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피드백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반영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3800" y="952500"/>
            <a:ext cx="15913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193B79"/>
                </a:solidFill>
                <a:ea typeface="Jalnan 2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38400" y="4470400"/>
            <a:ext cx="2895600" cy="779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12700" y="7277100"/>
            <a:ext cx="2184400" cy="218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587500"/>
            <a:ext cx="6096000" cy="5156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22300" y="558800"/>
            <a:ext cx="1708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전기차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56500" y="2082800"/>
            <a:ext cx="10388600" cy="609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400" b="false" i="false" u="none" strike="noStrike">
                <a:solidFill>
                  <a:srgbClr val="193B79"/>
                </a:solidFill>
                <a:ea typeface="Jalnan 2"/>
              </a:rPr>
              <a:t>전기차</a:t>
            </a:r>
            <a:r>
              <a:rPr lang="en-US" sz="34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193B79"/>
                </a:solidFill>
                <a:ea typeface="Jalnan 2"/>
              </a:rPr>
              <a:t>충전</a:t>
            </a:r>
            <a:r>
              <a:rPr lang="en-US" sz="34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193B79"/>
                </a:solidFill>
                <a:ea typeface="Jalnan 2"/>
              </a:rPr>
              <a:t>인프라의</a:t>
            </a:r>
            <a:r>
              <a:rPr lang="en-US" sz="34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193B79"/>
                </a:solidFill>
                <a:ea typeface="Jalnan 2"/>
              </a:rPr>
              <a:t>현재와</a:t>
            </a:r>
            <a:r>
              <a:rPr lang="en-US" sz="34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400" b="false" i="false" u="none" strike="noStrike">
                <a:solidFill>
                  <a:srgbClr val="193B79"/>
                </a:solidFill>
                <a:ea typeface="Jalnan 2"/>
              </a:rPr>
              <a:t>미래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6500" y="3073400"/>
            <a:ext cx="71374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전기차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충전소는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전기자동차의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배터리를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충전하는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시설로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,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전기차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보급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확대와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지속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가능한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교통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체계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구축에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핵심적인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역할을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합니다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.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인프라의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확충은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전기차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사용자의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주행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거리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불안을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해소하고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,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편의성을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높여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전기차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시장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성장을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촉진합니다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77100"/>
            <a:ext cx="112268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충전소의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정의와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중요성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178800"/>
            <a:ext cx="112141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국내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전기차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등록대수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급증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인프라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부족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문제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대두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정부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주도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확충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계획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진행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중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828800"/>
            <a:ext cx="5346700" cy="7835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58800" y="558800"/>
            <a:ext cx="1708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전국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현황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수집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917700"/>
            <a:ext cx="5156200" cy="311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01700" y="5562600"/>
            <a:ext cx="50165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데이터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소스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식별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" y="6337300"/>
            <a:ext cx="50038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환경부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전기차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충전소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정보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한국전력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충전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인프라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데이터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민간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충전사업자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제공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정보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지자체별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충전소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설치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현황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실시간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충전기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상태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정보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47500" y="5854700"/>
            <a:ext cx="7988300" cy="472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00800" y="1828800"/>
            <a:ext cx="5346700" cy="783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89700" y="1917700"/>
            <a:ext cx="5156200" cy="3111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616700" y="5562600"/>
            <a:ext cx="50165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데이터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수집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방법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6700" y="6337300"/>
            <a:ext cx="50038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공공데이터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포털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API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활용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웹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크롤링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기법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적용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정기적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데이터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업데이트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자동화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데이터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형식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: JSON, CSV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수집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주기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: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일별</a:t>
            </a:r>
            <a:r>
              <a:rPr lang="en-US" sz="2300" b="false" i="false" u="none" strike="noStrike">
                <a:solidFill>
                  <a:srgbClr val="FFFFFF"/>
                </a:solidFill>
                <a:latin typeface="Jalnan 2"/>
              </a:rPr>
              <a:t>, </a:t>
            </a:r>
            <a:r>
              <a:rPr lang="ko-KR" sz="2300" b="false" i="false" u="none" strike="noStrike">
                <a:solidFill>
                  <a:srgbClr val="FFFFFF"/>
                </a:solidFill>
                <a:ea typeface="Jalnan 2"/>
              </a:rPr>
              <a:t>실시간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58800" y="558800"/>
            <a:ext cx="1708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전처리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및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정제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54100" y="1917700"/>
            <a:ext cx="5156200" cy="3403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680200" y="2298700"/>
            <a:ext cx="106299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데이터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클렌징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프로세스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0200" y="3162300"/>
            <a:ext cx="10617200" cy="172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중복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식별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제거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누락된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정보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보완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(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예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: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주소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,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운영시간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)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형식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통일화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(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날짜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,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시간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포맷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)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이상치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탐지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처리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090400" y="6045200"/>
            <a:ext cx="5156200" cy="3403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77900" y="6426200"/>
            <a:ext cx="106299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지리정보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데이터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변환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7302500"/>
            <a:ext cx="10617200" cy="172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주소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데이터를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위도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,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경도로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변환</a:t>
            </a:r>
          </a:p>
          <a:p>
            <a:pPr algn="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좌표계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통일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(WGS84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기준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)</a:t>
            </a:r>
          </a:p>
          <a:p>
            <a:pPr algn="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지오코딩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API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활용</a:t>
            </a:r>
          </a:p>
          <a:p>
            <a:pPr algn="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정확도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검증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오류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수정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58800" y="558800"/>
            <a:ext cx="1708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정보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분석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: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기반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인사이트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도출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1917700"/>
            <a:ext cx="5156200" cy="3403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00100" y="6032500"/>
            <a:ext cx="52324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지역별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충전소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분포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분석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0100" y="6934200"/>
            <a:ext cx="52070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지역별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밀집도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조사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인구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대비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비율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계산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도시와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농촌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격차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분석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지역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특성에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따른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분포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패턴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확인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향후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확충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필요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지역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도출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65900" y="1917700"/>
            <a:ext cx="5156200" cy="3403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565900" y="6032500"/>
            <a:ext cx="52324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충전기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유형별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현황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파악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65900" y="6934200"/>
            <a:ext cx="52070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급속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/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완속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충전기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비율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확인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용량별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설치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현황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조사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제조사별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충전기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점유율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분석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신기술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적용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충전기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도입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현황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충전기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유형별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사용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선호도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조사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31700" y="1917700"/>
            <a:ext cx="5156200" cy="3403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331700" y="6032500"/>
            <a:ext cx="5232400" cy="533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사용량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및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이용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패턴</a:t>
            </a:r>
            <a:r>
              <a:rPr lang="en-US" sz="30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193B79"/>
                </a:solidFill>
                <a:ea typeface="Jalnan 2"/>
              </a:rPr>
              <a:t>분석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31700" y="6934200"/>
            <a:ext cx="52070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시간대별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이용률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조사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평일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/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주말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사용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패턴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비교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계절별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수요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변화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분석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시간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충전량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통계</a:t>
            </a:r>
          </a:p>
          <a:p>
            <a:pPr algn="l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사용자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유형별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이용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행태</a:t>
            </a:r>
            <a:r>
              <a:rPr lang="en-US" sz="23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300" b="false" i="false" u="none" strike="noStrike">
                <a:solidFill>
                  <a:srgbClr val="3F73D2"/>
                </a:solidFill>
                <a:ea typeface="Jalnan 2"/>
              </a:rPr>
              <a:t>파악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58800" y="558800"/>
            <a:ext cx="1708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시각화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도구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선택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및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준비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: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효과적인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표현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1917700"/>
            <a:ext cx="4089400" cy="340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41900" y="1917700"/>
            <a:ext cx="4089400" cy="3403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271000" y="1917700"/>
            <a:ext cx="4089400" cy="340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00100" y="1917700"/>
            <a:ext cx="4089400" cy="3403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0100" y="5956300"/>
            <a:ext cx="41656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적합한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시각화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도구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선정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100" y="6731000"/>
            <a:ext cx="4152900" cy="416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Tableau: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강력한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대시보드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기능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Power BI: MS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제품과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높은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호환성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Python: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맞춤형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시각화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가능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R: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통계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분석에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특화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D3.js: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웹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인터랙티브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시각화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Google Data Studio: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무료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,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협업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용이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54600" y="5956300"/>
            <a:ext cx="41656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데이터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연동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및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환경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설정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4600" y="6731000"/>
            <a:ext cx="41529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소스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연결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설정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API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키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발급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관리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새로고침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주기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설정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보안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프로토콜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구현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사용자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권한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관리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체계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수립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무결성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검증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절차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마련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1000" y="5956300"/>
            <a:ext cx="41656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시각화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템플릿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준비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1000" y="6731000"/>
            <a:ext cx="41529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브랜드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가이드라인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적용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색상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팔레트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선정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차트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유형별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템플릿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제작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레이아웃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그리드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시스템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구축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반응형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디자인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고려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접근성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기준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준수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00100" y="5956300"/>
            <a:ext cx="41656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데이터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업데이트</a:t>
            </a:r>
            <a:r>
              <a:rPr lang="en-US" sz="27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700" b="false" i="false" u="none" strike="noStrike">
                <a:solidFill>
                  <a:srgbClr val="193B79"/>
                </a:solidFill>
                <a:ea typeface="Jalnan 2"/>
              </a:rPr>
              <a:t>계획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00100" y="6731000"/>
            <a:ext cx="41529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실시간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연동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방식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결정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증분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업데이트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vs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전체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갱신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업데이트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로그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기록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시스템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오류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발생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알림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체계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백업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복구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프로세스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수립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성능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모니터링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도구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통합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1739900"/>
            <a:ext cx="5232400" cy="349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527800" y="1739900"/>
            <a:ext cx="5232400" cy="349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30100" y="1739900"/>
            <a:ext cx="5232400" cy="3492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30300" y="5829300"/>
            <a:ext cx="5270500" cy="6172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55700" y="2501900"/>
            <a:ext cx="4572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전국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지도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위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충전소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표시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5700" y="3200400"/>
            <a:ext cx="4559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정확한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GPS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좌표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활용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유형별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아이콘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구분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레벨에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따른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표시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조정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지도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스타일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커스터마이징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2300" y="558800"/>
            <a:ext cx="1708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위치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지도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시각화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: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직관적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정보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제공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0" y="2070100"/>
            <a:ext cx="4572000" cy="927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지역별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충전소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밀집도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히트맵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0" y="3200400"/>
            <a:ext cx="4559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색상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그라데이션으로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밀집도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표현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행정구역별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통계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정보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제공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시간대별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히트맵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변화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구현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사용자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정의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범위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설정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60300" y="2501900"/>
            <a:ext cx="4572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인터랙티브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지도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기능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구현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60300" y="3200400"/>
            <a:ext cx="4559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마우스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오버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정보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팝업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검색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필터링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경로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안내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기능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통합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지도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레이어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전환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옵션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5664200"/>
            <a:ext cx="5232400" cy="349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527800" y="5664200"/>
            <a:ext cx="5232400" cy="349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143000" y="6426200"/>
            <a:ext cx="4572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충전소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상세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정보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연동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5700" y="7137400"/>
            <a:ext cx="4559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실시간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가용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상태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요금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결제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방식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정보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이용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가능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제한사항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사용자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리뷰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평점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통합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45300" y="6426200"/>
            <a:ext cx="4572000" cy="495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사용자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위치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기반</a:t>
            </a:r>
            <a:r>
              <a:rPr lang="en-US" sz="28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193B79"/>
                </a:solidFill>
                <a:ea typeface="Jalnan 2"/>
              </a:rPr>
              <a:t>서비스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000" y="7137400"/>
            <a:ext cx="4559300" cy="207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현재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위치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기반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근처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표시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목적지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주변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추천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도착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예정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시간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계산</a:t>
            </a:r>
          </a:p>
          <a:p>
            <a:pPr algn="ctr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즐겨찾기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자주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가는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2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200" b="false" i="false" u="none" strike="noStrike">
                <a:solidFill>
                  <a:srgbClr val="3F73D2"/>
                </a:solidFill>
                <a:ea typeface="Jalnan 2"/>
              </a:rPr>
              <a:t>관리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44000" y="5295900"/>
            <a:ext cx="7416800" cy="331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720000">
            <a:off x="13423900" y="2070100"/>
            <a:ext cx="3746500" cy="374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64100" y="571500"/>
            <a:ext cx="7327900" cy="4152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842000" y="1549400"/>
            <a:ext cx="52197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600" b="false" i="false" u="none" strike="noStrike" spc="-100">
                <a:solidFill>
                  <a:srgbClr val="FFFFFF"/>
                </a:solidFill>
                <a:ea typeface="Jalnan 2"/>
              </a:rPr>
              <a:t>주요</a:t>
            </a:r>
            <a:r>
              <a:rPr lang="en-US" sz="3600" b="false" i="false" u="none" strike="noStrike" spc="-100">
                <a:solidFill>
                  <a:srgbClr val="FFFFFF"/>
                </a:solidFill>
                <a:latin typeface="Jalnan 2"/>
              </a:rPr>
              <a:t> KPI </a:t>
            </a:r>
            <a:r>
              <a:rPr lang="ko-KR" sz="3600" b="false" i="false" u="none" strike="noStrike" spc="-100">
                <a:solidFill>
                  <a:srgbClr val="FFFFFF"/>
                </a:solidFill>
                <a:ea typeface="Jalnan 2"/>
              </a:rPr>
              <a:t>선정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42000" y="2654300"/>
            <a:ext cx="5181600" cy="180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총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수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증가율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충전기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유형별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분포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평균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이용률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회전율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지역별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수요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대비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공급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10700" y="5346700"/>
            <a:ext cx="6883400" cy="320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사용자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정의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필터와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드릴다운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기능을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통해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다양한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관점에서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데이터를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탐색할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수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있습니다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.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실시간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업데이트로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최신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정보를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제공하며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,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시각적으로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명확한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그래프와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차트로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복잡한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데이터를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쉽게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이해할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수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있도록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000" b="false" i="false" u="none" strike="noStrike">
                <a:solidFill>
                  <a:srgbClr val="FFFFFF"/>
                </a:solidFill>
                <a:ea typeface="Jalnan 2"/>
              </a:rPr>
              <a:t>구성했습니다</a:t>
            </a:r>
            <a:r>
              <a:rPr lang="en-US" sz="3000" b="false" i="false" u="none" strike="noStrike">
                <a:solidFill>
                  <a:srgbClr val="FFFFFF"/>
                </a:solidFill>
                <a:latin typeface="Jalnan 2"/>
              </a:rPr>
              <a:t>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4864100"/>
            <a:ext cx="7327900" cy="4152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425700" y="6959600"/>
            <a:ext cx="5181600" cy="226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월별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/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연도별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충전량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변화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전기차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등록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대수와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충전소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증가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관계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패턴의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계절성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분석</a:t>
            </a:r>
          </a:p>
          <a:p>
            <a:pPr algn="l" lvl="0">
              <a:lnSpc>
                <a:spcPct val="124499"/>
              </a:lnSpc>
            </a:pP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신규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충전소의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영향</a:t>
            </a:r>
            <a:r>
              <a:rPr lang="en-US" sz="24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400" b="false" i="false" u="none" strike="noStrike">
                <a:solidFill>
                  <a:srgbClr val="3F73D2"/>
                </a:solidFill>
                <a:ea typeface="Jalnan 2"/>
              </a:rPr>
              <a:t>평가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31700" y="596900"/>
            <a:ext cx="53721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통계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대시보드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생성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8700" y="5854700"/>
            <a:ext cx="52197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600" b="false" i="false" u="none" strike="noStrike" spc="-100">
                <a:solidFill>
                  <a:srgbClr val="FFFFFF"/>
                </a:solidFill>
                <a:ea typeface="Jalnan 2"/>
              </a:rPr>
              <a:t>트렌드</a:t>
            </a:r>
            <a:r>
              <a:rPr lang="en-US" sz="3600" b="false" i="false" u="none" strike="noStrike" spc="-100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3600" b="false" i="false" u="none" strike="noStrike" spc="-100">
                <a:solidFill>
                  <a:srgbClr val="FFFFFF"/>
                </a:solidFill>
                <a:ea typeface="Jalnan 2"/>
              </a:rPr>
              <a:t>분석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32400" y="990600"/>
            <a:ext cx="8064500" cy="61722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702300" y="2692400"/>
            <a:ext cx="7213600" cy="711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Jalnan 2"/>
              </a:rPr>
              <a:t>UI/UX </a:t>
            </a:r>
            <a:r>
              <a:rPr lang="ko-KR" sz="4000" b="false" i="false" u="none" strike="noStrike">
                <a:solidFill>
                  <a:srgbClr val="FFFFFF"/>
                </a:solidFill>
                <a:ea typeface="Jalnan 2"/>
              </a:rPr>
              <a:t>디자인</a:t>
            </a:r>
            <a:r>
              <a:rPr lang="en-US" sz="40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FFFFFF"/>
                </a:solidFill>
                <a:ea typeface="Jalnan 2"/>
              </a:rPr>
              <a:t>원칙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0500" y="3797300"/>
            <a:ext cx="5549900" cy="299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사용자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중심의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디자인으로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정보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접근성과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사용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편의성을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높입니다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.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일관된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디자인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언어를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적용하여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학습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곡선을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낮추고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,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사용자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피드백을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반영한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지속적인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개선을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 </a:t>
            </a:r>
            <a:r>
              <a:rPr lang="ko-KR" sz="2800" b="false" i="false" u="none" strike="noStrike">
                <a:solidFill>
                  <a:srgbClr val="FFFFFF"/>
                </a:solidFill>
                <a:ea typeface="Jalnan 2"/>
              </a:rPr>
              <a:t>진행합니다</a:t>
            </a:r>
            <a:r>
              <a:rPr lang="en-US" sz="2800" b="false" i="false" u="none" strike="noStrike">
                <a:solidFill>
                  <a:srgbClr val="FFFFFF"/>
                </a:solidFill>
                <a:latin typeface="Jalnan 2"/>
              </a:rPr>
              <a:t>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4267200" y="977900"/>
            <a:ext cx="4787900" cy="1168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99900" y="3606800"/>
            <a:ext cx="5422900" cy="5422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738100" y="5156200"/>
            <a:ext cx="3746500" cy="520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3F73D2"/>
                </a:solidFill>
                <a:ea typeface="Jalnan 2"/>
              </a:rPr>
              <a:t>실시간</a:t>
            </a:r>
            <a:r>
              <a:rPr lang="en-US" sz="29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3F73D2"/>
                </a:solidFill>
                <a:ea typeface="Jalnan 2"/>
              </a:rPr>
              <a:t>업데이트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04000" y="5829300"/>
            <a:ext cx="5016500" cy="5016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2547600" y="596900"/>
            <a:ext cx="51562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사용자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인터페이스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설계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: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편의성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극대화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12700" y="5905500"/>
            <a:ext cx="37338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충전소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상태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실시간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반영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푸시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알림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기능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자동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데이터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새로고침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네트워크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최적화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65200" y="3606800"/>
            <a:ext cx="5422900" cy="5422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803400" y="5156200"/>
            <a:ext cx="3746500" cy="520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3F73D2"/>
                </a:solidFill>
                <a:ea typeface="Jalnan 2"/>
              </a:rPr>
              <a:t>직관적</a:t>
            </a:r>
            <a:r>
              <a:rPr lang="en-US" sz="29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3F73D2"/>
                </a:solidFill>
                <a:ea typeface="Jalnan 2"/>
              </a:rPr>
              <a:t>레이아웃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0700" y="5905500"/>
            <a:ext cx="37338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중요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정보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우선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배치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색상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대비로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가독성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향상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아이콘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활용한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직관적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표현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단계별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정보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구조화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6300" y="7112000"/>
            <a:ext cx="3746500" cy="520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3F73D2"/>
                </a:solidFill>
                <a:ea typeface="Jalnan 2"/>
              </a:rPr>
              <a:t>모바일</a:t>
            </a:r>
            <a:r>
              <a:rPr lang="en-US" sz="29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3F73D2"/>
                </a:solidFill>
                <a:ea typeface="Jalnan 2"/>
              </a:rPr>
              <a:t>최적화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27900" y="7861300"/>
            <a:ext cx="34798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터치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기반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UI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설계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반응형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웹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디자인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적용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스와이프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제스처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활용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-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오프라인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모드</a:t>
            </a:r>
            <a:r>
              <a:rPr lang="en-US" sz="2200" b="false" i="false" u="none" strike="noStrike">
                <a:solidFill>
                  <a:srgbClr val="193B79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193B79"/>
                </a:solidFill>
                <a:ea typeface="Pretendard Regular"/>
              </a:rPr>
              <a:t>지원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86400" y="4572000"/>
            <a:ext cx="2984500" cy="203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3700" y="2374900"/>
            <a:ext cx="4559300" cy="45593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-2147483648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6500" y="7023100"/>
            <a:ext cx="2946400" cy="20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3600000">
            <a:off x="-939800" y="5753100"/>
            <a:ext cx="2984500" cy="20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7200000">
            <a:off x="3340100" y="5791200"/>
            <a:ext cx="2946400" cy="20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17100" y="7023100"/>
            <a:ext cx="2946400" cy="203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3600000">
            <a:off x="11925300" y="5753100"/>
            <a:ext cx="2984500" cy="203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7200000">
            <a:off x="7683500" y="5791200"/>
            <a:ext cx="2946400" cy="203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10800000">
            <a:off x="5511800" y="4572000"/>
            <a:ext cx="2984500" cy="20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7200000">
            <a:off x="16268700" y="5740400"/>
            <a:ext cx="2946400" cy="203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10800000">
            <a:off x="14097000" y="4521200"/>
            <a:ext cx="2984500" cy="20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99000" y="4851400"/>
            <a:ext cx="4559300" cy="455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91600" y="2374900"/>
            <a:ext cx="4559300" cy="455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0" y="4851400"/>
            <a:ext cx="4559300" cy="455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032000" y="6477000"/>
            <a:ext cx="1282700" cy="317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337300" y="4965700"/>
            <a:ext cx="1282700" cy="317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693400" y="6502400"/>
            <a:ext cx="1282700" cy="317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998700" y="4940300"/>
            <a:ext cx="1282700" cy="317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16000" y="4165600"/>
            <a:ext cx="32893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정기적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데이터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갱신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프로세스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1900" y="7543800"/>
            <a:ext cx="2895600" cy="299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실시간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동기화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구축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자동화된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수집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도구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활용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정확성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검증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절차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수립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주기적인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백업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실시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23600" y="596900"/>
            <a:ext cx="6680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업데이트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및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유지보수</a:t>
            </a:r>
            <a:r>
              <a:rPr lang="en-US" sz="32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3200" b="false" i="false" u="none" strike="noStrike">
                <a:solidFill>
                  <a:srgbClr val="516FF3"/>
                </a:solidFill>
                <a:ea typeface="Jalnan 2"/>
              </a:rPr>
              <a:t>계획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90100" y="4165600"/>
            <a:ext cx="32893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사용자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피드백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수집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및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반영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34000" y="6731000"/>
            <a:ext cx="32893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오류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보고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및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수정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시스템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95400" y="6959600"/>
            <a:ext cx="3289300" cy="50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데이터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품질</a:t>
            </a:r>
            <a:r>
              <a:rPr lang="en-US" sz="2900" b="false" i="false" u="none" strike="noStrike">
                <a:solidFill>
                  <a:srgbClr val="193B79"/>
                </a:solidFill>
                <a:latin typeface="Jalnan 2"/>
              </a:rPr>
              <a:t> </a:t>
            </a:r>
            <a:r>
              <a:rPr lang="ko-KR" sz="2900" b="false" i="false" u="none" strike="noStrike">
                <a:solidFill>
                  <a:srgbClr val="193B79"/>
                </a:solidFill>
                <a:ea typeface="Jalnan 2"/>
              </a:rPr>
              <a:t>관리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3300" y="7543800"/>
            <a:ext cx="2895600" cy="299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다양한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피드백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채널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구축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정기적인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사용자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설문조사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실시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피드백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분석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개선점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도출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개선사항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적용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결과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공유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62600" y="1244600"/>
            <a:ext cx="2895600" cy="2997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사용자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친화적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오류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신고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시스템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오류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유형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분류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우선순위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지정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신속한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오류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수정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프로세스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수정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이력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관리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투명성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유지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24000" y="1244600"/>
            <a:ext cx="2895600" cy="2997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일관성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검사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자동화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정기적인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감사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실시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데이터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표준화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지침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수립</a:t>
            </a:r>
          </a:p>
          <a:p>
            <a:pPr algn="ctr" lvl="0">
              <a:lnSpc>
                <a:spcPct val="116199"/>
              </a:lnSpc>
            </a:pP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-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품질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지표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모니터링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및</a:t>
            </a:r>
            <a:r>
              <a:rPr lang="en-US" sz="2100" b="false" i="false" u="none" strike="noStrike">
                <a:solidFill>
                  <a:srgbClr val="3F73D2"/>
                </a:solidFill>
                <a:latin typeface="Jalnan 2"/>
              </a:rPr>
              <a:t> </a:t>
            </a:r>
            <a:r>
              <a:rPr lang="ko-KR" sz="2100" b="false" i="false" u="none" strike="noStrike">
                <a:solidFill>
                  <a:srgbClr val="3F73D2"/>
                </a:solidFill>
                <a:ea typeface="Jalnan 2"/>
              </a:rPr>
              <a:t>보고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 rot="0">
            <a:off x="-381000" y="-1244600"/>
            <a:ext cx="19088100" cy="1511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914400"/>
            <a:ext cx="15748000" cy="231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3000" b="false" i="false" u="none" strike="noStrike" spc="-900">
                <a:solidFill>
                  <a:srgbClr val="193B79"/>
                </a:solidFill>
                <a:ea typeface="Cafe24 Shiningstar"/>
              </a:rPr>
              <a:t>결론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2520000">
            <a:off x="16954500" y="952500"/>
            <a:ext cx="1016000" cy="863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980000">
            <a:off x="16497300" y="533400"/>
            <a:ext cx="622300" cy="660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0200000">
            <a:off x="3390900" y="2425700"/>
            <a:ext cx="11493500" cy="2425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90600" y="4813300"/>
            <a:ext cx="16306800" cy="528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전기차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정보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워크플로우는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지속가능한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모빌리티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미래를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위한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핵심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요소입니다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.</a:t>
            </a:r>
          </a:p>
          <a:p>
            <a:pPr algn="ctr" lvl="0">
              <a:lnSpc>
                <a:spcPct val="124499"/>
              </a:lnSpc>
            </a:pP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-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데이터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수집부터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시각화까지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체계적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접근</a:t>
            </a:r>
          </a:p>
          <a:p>
            <a:pPr algn="ctr" lvl="0">
              <a:lnSpc>
                <a:spcPct val="124499"/>
              </a:lnSpc>
            </a:pP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-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사용자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중심의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인터페이스로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접근성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향상</a:t>
            </a:r>
          </a:p>
          <a:p>
            <a:pPr algn="ctr" lvl="0">
              <a:lnSpc>
                <a:spcPct val="124499"/>
              </a:lnSpc>
            </a:pP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-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실시간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데이터로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충전소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이용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효율성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제고</a:t>
            </a:r>
          </a:p>
          <a:p>
            <a:pPr algn="ctr" lvl="0">
              <a:lnSpc>
                <a:spcPct val="124499"/>
              </a:lnSpc>
            </a:pP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-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지속적인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개선으로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서비스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품질</a:t>
            </a:r>
            <a:r>
              <a:rPr lang="en-US" sz="4000" b="false" i="false" u="none" strike="noStrike">
                <a:solidFill>
                  <a:srgbClr val="516FF3"/>
                </a:solidFill>
                <a:latin typeface="Jalnan 2"/>
              </a:rPr>
              <a:t> </a:t>
            </a:r>
            <a:r>
              <a:rPr lang="ko-KR" sz="4000" b="false" i="false" u="none" strike="noStrike">
                <a:solidFill>
                  <a:srgbClr val="516FF3"/>
                </a:solidFill>
                <a:ea typeface="Jalnan 2"/>
              </a:rPr>
              <a:t>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